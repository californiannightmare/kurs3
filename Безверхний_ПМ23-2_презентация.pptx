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</a:rPr>
              <a:t>Построение рекомендательной системы</a:t>
            </a:r>
          </a:p>
          <a:p>
            <a:r>
              <a:rPr sz="2800" b="1">
                <a:solidFill>
                  <a:srgbClr val="1F4E79"/>
                </a:solidFill>
              </a:rPr>
              <a:t>с помощью векторного представления графа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4556A"/>
                </a:solidFill>
              </a:rPr>
              <a:t>Курсовая работа</a:t>
            </a:r>
          </a:p>
          <a:p>
            <a:r>
              <a:rPr sz="1800">
                <a:solidFill>
                  <a:srgbClr val="44556A"/>
                </a:solidFill>
              </a:rPr>
              <a:t>Студент: Безверхний, группа ПМ23-2</a:t>
            </a:r>
          </a:p>
          <a:p>
            <a:r>
              <a:rPr sz="1800">
                <a:solidFill>
                  <a:srgbClr val="44556A"/>
                </a:solidFill>
              </a:rPr>
              <a:t>Датасет: Jester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82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Цель: построить рекомендательную систему на основе графовых эмбеддингов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Задача top-K рекомендаций шуток для каждого пользователя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Сравнить 4 модели: Popularity, MF-BPR, LightGCN, NGCF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Подобрать гиперпараметры лучшей модели (Grid Search)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Оценить качество метриками Precision@K, Recall@K, NDCG@K, HitRate@K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Датасет Jester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504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Пользователей: 73,421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Шуток: 100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Оценок: 4,136,360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Плотность матрицы: 56.3%  (≈ в 10 раз выше MovieLens)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Диапазон оценок: [-9.9, 10.0]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Бинаризация: y_ui = 1 при r_ui &gt; 0  (58.5% оценок)</a:t>
            </a:r>
          </a:p>
        </p:txBody>
      </p:sp>
      <p:pic>
        <p:nvPicPr>
          <p:cNvPr id="4" name="Picture 3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000" y="1260000"/>
            <a:ext cx="3240000" cy="18514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Двудольный граф взаимодействий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504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Узлы: U (пользователи) ∪ I (шутки)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Рёбра: (u, i) ⇔ оценка &gt; 0  (имплицитная обратная связь)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Нормированная матрица смежности Â = D^(−1/2) A D^(−1/2)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Размер Â: 73,521 × 73,521, разреженная (COO)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Split по пользователю: train 80% / val 10% / test 10%</a:t>
            </a:r>
          </a:p>
        </p:txBody>
      </p:sp>
      <p:pic>
        <p:nvPicPr>
          <p:cNvPr id="4" name="Picture 3" descr="intera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000" y="1260000"/>
            <a:ext cx="324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Сравниваемые архитектуры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82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Popularity — без обучения, скор = популярность шутки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MF-BPR — ŷ_ui = e_u · e_i,  обучение через BPR-loss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LightGCN — графовая свёртка без линейных весов, среднее по слоям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NGCF — GCN c W₁, W₂, LeakyReLU, dropout, конкат по слоям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Все обучаемые модели: PyTorch, Adam, L2-регуляризация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Кривые обучения</a:t>
            </a:r>
          </a:p>
        </p:txBody>
      </p:sp>
      <p:pic>
        <p:nvPicPr>
          <p:cNvPr id="3" name="Picture 2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440000"/>
            <a:ext cx="8280000" cy="26750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Сравнение моделей (тест)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440000"/>
          <a:ext cx="792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584000"/>
                <a:gridCol w="1584000"/>
                <a:gridCol w="1584000"/>
                <a:gridCol w="1584000"/>
              </a:tblGrid>
              <a:tr h="3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Модель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Precision@10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Recall@10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NDCG@10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HitRate@10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Popularity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0.1399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0.7515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MF-BPR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0.1532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0.5344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0.7899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LightGCN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0.5635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0.8140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NGCF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0.1549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0.5308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0.7860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Метрики качества — диаграмма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440000"/>
            <a:ext cx="8280000" cy="41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Grid Search (LightGCN) — топ-6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440000"/>
          <a:ext cx="792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1320000"/>
                <a:gridCol w="1320000"/>
                <a:gridCol w="1320000"/>
                <a:gridCol w="1320000"/>
                <a:gridCol w="1320000"/>
              </a:tblGrid>
              <a:tr h="339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dim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reg_w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val NDCG@10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test NDCG@10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394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5e-03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1e-04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0.3774</a:t>
                      </a:r>
                    </a:p>
                  </a:txBody>
                  <a:tcPr/>
                </a:tc>
              </a:tr>
              <a:tr h="3394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5e-03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1e-05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0.3772</a:t>
                      </a:r>
                    </a:p>
                  </a:txBody>
                  <a:tcPr/>
                </a:tc>
              </a:tr>
              <a:tr h="3394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5e-03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1e-05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0.3755</a:t>
                      </a:r>
                    </a:p>
                  </a:txBody>
                  <a:tcPr/>
                </a:tc>
              </a:tr>
              <a:tr h="3394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5e-03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1e-04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0.3754</a:t>
                      </a:r>
                    </a:p>
                  </a:txBody>
                  <a:tcPr/>
                </a:tc>
              </a:tr>
              <a:tr h="3394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5e-03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1e-05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0.3711</a:t>
                      </a:r>
                    </a:p>
                  </a:txBody>
                  <a:tcPr/>
                </a:tc>
              </a:tr>
              <a:tr h="33943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5e-03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1e-04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556A"/>
                          </a:solidFill>
                        </a:rPr>
                        <a:t>0.3709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4E79"/>
                </a:solidFill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82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Лучшая модель — LightGCN: NDCG@10 = 0.3860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Все обучаемые модели стабильно бьют popularity-baseline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На плотном Jester (56%) разрыв между MF и GCN мал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Графовые методы эффективнее на разреженных доменах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56A"/>
                </a:solidFill>
              </a:rPr>
              <a:t>• Перспективы: SGL/SimGCL, rating-aware BPR, PinSAGE с фичами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4556A"/>
                </a:solidFill>
              </a:rPr>
              <a:t>Вопросы?</a:t>
            </a:r>
          </a:p>
          <a:p/>
          <a:p>
            <a:r>
              <a:rPr sz="1800">
                <a:solidFill>
                  <a:srgbClr val="44556A"/>
                </a:solidFill>
              </a:rPr>
              <a:t>Код: &lt;ссылка на репозиторий&gt;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